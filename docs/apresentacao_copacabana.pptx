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A1A2E"/>
                </a:solidFill>
                <a:latin typeface="Calibri"/>
              </a:rPr>
              <a:t>Convergência — MAE por época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299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623.66</c:v>
                </c:pt>
                <c:pt idx="1">
                  <c:v>616.25</c:v>
                </c:pt>
                <c:pt idx="2">
                  <c:v>588.37</c:v>
                </c:pt>
                <c:pt idx="3">
                  <c:v>531.29</c:v>
                </c:pt>
                <c:pt idx="4">
                  <c:v>453.39</c:v>
                </c:pt>
                <c:pt idx="5">
                  <c:v>362.43</c:v>
                </c:pt>
                <c:pt idx="6">
                  <c:v>296.54000000000002</c:v>
                </c:pt>
                <c:pt idx="7">
                  <c:v>261.07</c:v>
                </c:pt>
                <c:pt idx="8">
                  <c:v>247.58</c:v>
                </c:pt>
                <c:pt idx="9">
                  <c:v>242.79</c:v>
                </c:pt>
                <c:pt idx="10">
                  <c:v>240.15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0B-4F3D-80B5-26B93D92B1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Teste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299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629.92999999999995</c:v>
                </c:pt>
                <c:pt idx="1">
                  <c:v>622.17999999999995</c:v>
                </c:pt>
                <c:pt idx="2">
                  <c:v>593.4</c:v>
                </c:pt>
                <c:pt idx="3">
                  <c:v>535.54</c:v>
                </c:pt>
                <c:pt idx="4">
                  <c:v>457.38</c:v>
                </c:pt>
                <c:pt idx="5">
                  <c:v>366.81</c:v>
                </c:pt>
                <c:pt idx="6">
                  <c:v>301.98</c:v>
                </c:pt>
                <c:pt idx="7">
                  <c:v>267.47000000000003</c:v>
                </c:pt>
                <c:pt idx="8">
                  <c:v>255.61</c:v>
                </c:pt>
                <c:pt idx="9">
                  <c:v>252.11</c:v>
                </c:pt>
                <c:pt idx="10">
                  <c:v>250.03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0B-4F3D-80B5-26B93D92B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FFFFFF"/>
                </a:solidFill>
                <a:latin typeface="Calibri"/>
              </a:rPr>
              <a:t>Erro médio — menor é melhor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(R$)</c:v>
                </c:pt>
              </c:strCache>
            </c:strRef>
          </c:tx>
          <c:spPr>
            <a:solidFill>
              <a:srgbClr val="7A8A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E6-4ED9-B271-CC33F688ADD3}"/>
              </c:ext>
            </c:extLst>
          </c:dPt>
          <c:dPt>
            <c:idx val="1"/>
            <c:invertIfNegative val="0"/>
            <c:bubble3D val="0"/>
            <c:spPr>
              <a:solidFill>
                <a:srgbClr val="9F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E6-4ED9-B271-CC33F688ADD3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E6-4ED9-B271-CC33F688ADD3}"/>
              </c:ext>
            </c:extLst>
          </c:dPt>
          <c:dLbls>
            <c:numFmt formatCode="&quot;R$ 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Mediana global</c:v>
                </c:pt>
                <c:pt idx="1">
                  <c:v>Mediana por capacidade</c:v>
                </c:pt>
                <c:pt idx="2">
                  <c:v>Rede neural MLP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304.20999999999998</c:v>
                </c:pt>
                <c:pt idx="1">
                  <c:v>266.42</c:v>
                </c:pt>
                <c:pt idx="2">
                  <c:v>250.03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E6-4ED9-B271-CC33F688AD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  <c:min val="0"/>
        </c:scaling>
        <c:delete val="0"/>
        <c:axPos val="l"/>
        <c:majorGridlines>
          <c:spPr>
            <a:ln w="6350" cap="flat">
              <a:solidFill>
                <a:srgbClr val="3340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85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Copacabana concentra 30,9% dos anuncios do Rio e tem a maior densidade de anuncios de temporada por km2 do mundo, segundo o Inside Airbnb. O problema e real: nao existe referencia objetiva de preco.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preco vem como texto no formato $354.00 e 8,4% dos anuncios nao tem preco. Isso motivou boa parte do pre-processamento.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RF09 e RF10 surgiram depois, quando percebemos que o modelo sozinho nao respondia a sazonalidade.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RNF04, de tempo de inferencia, foi omitido por espaco — esta atendido e consta no caderno GR4ML.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trilhas nunca se cruzam antes da saida. E a evidencia visual do RNF07: retreinar o modelo nao altera o indice.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decisao 3 veio de um bug real: o CI pegou que o modelo salvo nao carregava se mudassemos o numero de neuronios.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estrutura nao e decorativa: cada pasta corresponde a uma responsabilidade que aparece nos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que seguimos: se um modulo precisa importar outro do mesmo nivel, provavelmente a responsabilidade esta no lugar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tipagem nao e enfeite: foi ela que deixou claro que padronizar devolve quatro coisas, e nao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salvamento guarda tambem dim_oculta e as estatisticas de padronizacao. Sem isso o modelo nao recarrega em outra configuracao.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configuracao 16 neuronios com lr 0,005 chega a 6% de acerto — nao e ruim por natureza, e lenta demais para convergir em 300 epocas.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bug do state_dict e o melhor argumento do slide: o teste nao foi decorativo, encontrou algo que passaria despercebido.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dizendo que o requisito nao atendido foi um erro de definicao, nao do modelo — e que medir os baselines antes foi o que permitiu enxergar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Precificação Assistida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Aluguel por temporada em Copacabana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385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Machado Fão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6148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Anfitriões definem a diária por comparação manual com vizinhos. Erram para cima e o imóvel encalha; para baixo e perdem receita.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4728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9417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o preço justo da diária a partir das características do imóvel e sinalizar a pressão de demanda da data.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799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da IA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2686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aprende a relação entre atributos e preço praticado. O ajuste sazonal é regra determinística, sem ML.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66760" y="868680"/>
            <a:ext cx="3182112" cy="1207008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549640" y="99669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15.036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15819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em Copacabana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66760" y="2258568"/>
            <a:ext cx="3182112" cy="1207008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8549640" y="2386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30,9%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971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Rio de Janeiro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3648456"/>
            <a:ext cx="3182112" cy="1207008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549640" y="3776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4361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densidade no mundo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gestores de portfólio e anfitriões que precisam precificar sem referência objetiva.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github.com/jpmf-dev/precificacao-copacabana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e solução proposta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utilizada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105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1051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— snapshot Rio, junho/2026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311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311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48.713 anúncios · 90 colunas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6517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filtro e limpeza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6517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13.558 imóveis · 12 atributos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0723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base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0723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calendar.csv — 17,8 mi de linhas diárias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930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prevista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49300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da diária, em reais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325880"/>
            <a:ext cx="5102352" cy="2788920"/>
          </a:xfrm>
          <a:prstGeom prst="roundRect">
            <a:avLst>
              <a:gd name="adj" fmla="val 196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675120" y="1481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do sistema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874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093976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· quartos · banheiros · camas · tipo · mínimo de noites · avaliações · disponibilidade · data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9900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209544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preço-base estimado em R$ + faixa de pressão da data (normal · elevada · alta · crítica)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AF2F6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68680" y="44622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em duas partes independentes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 (PyTorch)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o preço-base a partir dos atributos do imóvel.  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Pressão de Demanda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 data usando apenas regras sobre o calendário — sem aprendizado de máquina. Os dois só se encontram na apresentação ao gestor, que mantém a decisão final.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8251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sob licença CC BY 4.0 · insideairbnb.com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04672" y="1600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517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a base e selecionar os imóveis de Copacabana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04672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2768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Pré-processar: converter preço, tratar ausentes, remover outliers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04672" y="3118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035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em treino e teste 80/20 com semente fixa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04672" y="38770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 rede neural em PyTorch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453128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04672" y="4636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no teste: MAE e percentual dentro de ±25%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473952" y="1600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1517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dois baselines sem aprendizado de máquina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176272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473952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2768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o preço de um imóvel novo informado pelo usuário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935224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473952" y="3118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3035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e recarregar o modelo sem novo treinamento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694176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6473952" y="38770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50608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índice de pressão de demanda por data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09360" y="4453128"/>
            <a:ext cx="5257800" cy="621792"/>
          </a:xfrm>
          <a:prstGeom prst="roundRect">
            <a:avLst>
              <a:gd name="adj" fmla="val 7353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6473952" y="4636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50608" y="4553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preço e faixa, mantendo a decisão com o gestor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requisitos foram elicitados pela modelagem GR4ML: cada RF deriva de um Question Goal ou do Decision Goal do gestor.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funcionais e critérios de aceitação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371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371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ACEITAÇÃO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49808" y="18470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18470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abaixo do melhor baseline (R$ 266,42)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no conjunto de teste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847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R$ 250,03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018520" y="1819656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11018520" y="181965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350008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749808" y="25054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5054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 das estimativas dentro de ±25%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505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no conjunto de teste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018520" y="2478024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1018520" y="247802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08376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749808" y="31638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163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semente → métricas idênticas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pipeline duas vezes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163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018520" y="313639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11018520" y="313639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3666744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749808" y="3822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3822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em CPU em menos de 5 minutos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3822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do tempo de treino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3822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018520" y="379476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11018520" y="37947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4325112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749808" y="44805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554480" y="44805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independentes e testáveis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760720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da suíte de testes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61120" y="44805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testes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018520" y="445312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11018520" y="44531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" y="4983480"/>
            <a:ext cx="1090879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 txBox="1"/>
          <p:nvPr/>
        </p:nvSpPr>
        <p:spPr>
          <a:xfrm>
            <a:off x="749808" y="5138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RNF07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554480" y="5138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determinístico e independente do modelo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760720" y="5138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sem o modelo carregado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961120" y="5138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1018520" y="5111496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 txBox="1"/>
          <p:nvPr/>
        </p:nvSpPr>
        <p:spPr>
          <a:xfrm>
            <a:off x="11018520" y="511149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RNF02 foi o único não atendido. A meta de 60% foi arbitrada a partir dos 44,8% do baseline, sem base empírica — o erro está na definição do requisito.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da arquitetura real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APRENDIZADO DE MÁQUINA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31520" y="1746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listings.csv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11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48.713 anúncios · 90 colunas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28600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0080" y="263347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31520" y="2752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limpeza · encoding · padronização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329184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3758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— rede neural MLP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233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→ 32 ReLU → 1 · L1Loss · Adam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429768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31520" y="4764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modelo.pth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0292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state_dict + média e desvio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3716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DETERMINÍSTICO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46520" y="1627632"/>
            <a:ext cx="51023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6537960" y="174650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calendar.csv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17,8 mi de linhas diárias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97696" y="228600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446520" y="2633472"/>
            <a:ext cx="51023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6537960" y="275234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por data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01752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truncada · janela móvel ±21d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97696" y="329184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446520" y="3639312"/>
            <a:ext cx="5102352" cy="658368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537960" y="375818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Pressão de Demanda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02336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aprendizado de máquina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97696" y="4297680"/>
            <a:ext cx="0" cy="329184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446520" y="4645152"/>
            <a:ext cx="510235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6537960" y="476402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365 datas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02920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ipd + faixa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5303520"/>
            <a:ext cx="0" cy="292608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8997696" y="5303520"/>
            <a:ext cx="0" cy="292608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200400" y="5596128"/>
            <a:ext cx="5797296" cy="0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3840480" y="5669280"/>
            <a:ext cx="4507992" cy="621792"/>
          </a:xfrm>
          <a:prstGeom prst="roundRect">
            <a:avLst>
              <a:gd name="adj" fmla="val 882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 txBox="1"/>
          <p:nvPr/>
        </p:nvSpPr>
        <p:spPr>
          <a:xfrm>
            <a:off x="3931920" y="5788152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ao gestor — decisão humana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3931920" y="6053328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preço-base + faixa de pressão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arquiteturais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96112" y="16733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9611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691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16712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faz uma coisa: loader só lê, cleaning só limpa, network só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arquitetura. Nenhum conhece o próximo.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565392" y="16733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56539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1691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ocorre cada etapa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16712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em src/preprocessing, treino em src/training, inferência em src/inference. O main.py apenas orquestra, sem regra de negócio.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6112" y="3822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9611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3840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por state_dict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31596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o objeto inteiro acopla o arquivo à estrutura de diretórios e quebra após refatoração. Gravamos só os pesos, com as dimensões da rede e as estatísticas de padronização.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565392" y="38221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6539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840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acoplamento entre os componentes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31596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sazonal não importa nada do modelo. Retreinar a rede não altera o índice — verificável executando um sem o outro.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em duas trilhas foi escolhida porque a sazonalidade não é aprendizável com os dados disponíveis — o calendário do Inside Airbnb não contém preço.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repositório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577840" cy="4663440"/>
          </a:xfrm>
          <a:prstGeom prst="roundRect">
            <a:avLst>
              <a:gd name="adj" fmla="val 1176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14400" y="155448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precificacao-copacabana/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testes.yml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raw/          (não versionado)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processed/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GR4ML.md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resultados/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treino.ipynb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config.py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preprocessing/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training/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evaluation/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seasonality/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inference/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por etapa do pipeline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645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segue o fluxo do dado: carregar, limpar, modelar, treinar, avaliar, inferir. Encontrar código é percorrer o pipeline.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42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fora do controle de versão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163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listings.csv.gz e calendar.csv.gz somam 66 MB. Ficam no .gitignore; o README explica onde baixar.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712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espelham os módulos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98678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tests/test_cleaning.py testa src/preprocessing/cleaning.py. A correspondência é direta e evita testes órfãos.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8828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isolada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51572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parâmetro vive em src/config.py. Treino, avaliação e testes leem da mesma fonte.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 dos módulos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22960" y="14904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data/loader.py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49047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arquivos do disco e filtra o bairro. Não limpa nada.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9384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20482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preprocessing/cleaning.py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04825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o preço textual, extrai banheiros, imputa ausentes, remove outliers.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87168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2606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preprocessing/features.py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60604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a matriz NumPy, divide treino/teste e padroniza.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44952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2960" y="31638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models/network.py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16382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arquitetura da rede. Não treina nem avalia.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02736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22960" y="3721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training/trainer.py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72160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laço de treino e devolve o modelo e o histórico.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822960" y="4279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27939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metrics.py calcula MAE e tolerância; baselines.py fornece as referências sem ML.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22960" y="4837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seasonality/demand_index.py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83717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índice de pressão. Único módulo sem PyTorch.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276088"/>
            <a:ext cx="1090879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822960" y="5394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inference/predictor.py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53949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e carrega o modelo; estima o preço de um imóvel novo.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870448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EAF2F6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68680" y="599846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tudo em três comandos — treinar, sazonal e estimar — delegando cada etapa ao módulo responsável, sem conter regra de negócio própria.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NumPy e tipagem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92240" cy="2148840"/>
          </a:xfrm>
          <a:prstGeom prst="roundRect">
            <a:avLst>
              <a:gd name="adj" fmla="val 2553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536192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dividir_treino_teste(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matriz: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alvo: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proporcao: float = config.PROPORCAO_TREINO,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semente: int = config.SEMENTE,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tuple[np.ndarray,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np.ndarray, np.ndarray]: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gerador = np.random.default_rng(semente)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indices = gerador.permutation(len(matriz))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6492240" cy="2148840"/>
          </a:xfrm>
          <a:prstGeom prst="roundRect">
            <a:avLst>
              <a:gd name="adj" fmla="val 2553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68680" y="3822192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padronizar(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treino: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teste: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tuple[np.ndarray, np.ndarray,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np.ndarray, np.ndarray]: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 = treino.mean(axis=0)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desvio = treino.std(axis=0)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desvio = np.where(desvio == 0.0, 1.0, desvio)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(treino - media) / desvio, ...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371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completas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62763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e saídas anotadas, inclusive tuplas de retorno. O tipo documenta o contrato sem precisar ler o corpo.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5054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onde importa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76148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embaralha os índices; média e desvio saem de operações vetorizadas por eixo, não de laços.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6393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desvio vêm só do treino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sobre o conjunto completo vazaria informação do teste e inflaria o desempenho.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7731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 tratado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0292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 evita divisão por zero quando uma coluna é constante — situação que existe no one-hot.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em PyTorch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92240" cy="2834640"/>
          </a:xfrm>
          <a:prstGeom prst="roundRect">
            <a:avLst>
              <a:gd name="adj" fmla="val 1935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536192"/>
            <a:ext cx="6126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RegressorPreco(nn.Module):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dim_entrada: int,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dim_oculta: int = 32,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dim_saida: int = 1) -&gt; None: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self.rede = nn.Sequential(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nn.Linear(dim_entrada, dim_oculta),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nn.ReLU(),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nn.Linear(dim_oculta, dim_saida),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x: torch.Tensor) -&gt; torch.Tensor: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self.rede(x).squeeze(-1)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417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1417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32 (ReLU) →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81965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18196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nn.L1Loss — MAE, simétrico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219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221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0,01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243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624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 lote único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026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treino em 7,5 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4290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429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torch.save(state_dict)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83133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831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torch.manual_seed(42)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70832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EAF2F6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868680" y="451713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não linearidade é necessária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80974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mediano em Copacabana sai de R$ 229 para 1 hóspede, passa por R$ 438 para 4 e chega a R$ 1.065 para 8 — a inclinação cresce. Uma regressão linear subestimaria os imóveis grandes e superestimaria os pequenos. A camada ReLU é o que permite acompanhar essa curva.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experimental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25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queríamos descobrir: se o desempenho era limitado pela capacidade da rede ou pela configuração do treino.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456432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1783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10.846 · teste 2.712 (80/20)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1691640"/>
            <a:ext cx="3456432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462272" y="1783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em R$ · % dentro de ±25%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18704" y="1691640"/>
            <a:ext cx="3456432" cy="621792"/>
          </a:xfrm>
          <a:prstGeom prst="roundRect">
            <a:avLst>
              <a:gd name="adj" fmla="val 8824"/>
            </a:avLst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101584" y="1783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01584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 fixa em NumPy e PyTorch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configurações testadas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(R$)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±25%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035808"/>
            <a:ext cx="5669280" cy="283464"/>
          </a:xfrm>
          <a:prstGeom prst="rect">
            <a:avLst/>
          </a:prstGeom>
          <a:solidFill>
            <a:srgbClr val="F4F6F8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8580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238,95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342132"/>
            <a:ext cx="56692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685800" y="33878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33878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0,050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33878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240,35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33878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648456"/>
            <a:ext cx="5669280" cy="283464"/>
          </a:xfrm>
          <a:prstGeom prst="rect">
            <a:avLst/>
          </a:prstGeom>
          <a:solidFill>
            <a:srgbClr val="F4F6F8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85800" y="3694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103120" y="3694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0,050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3694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240,50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3694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49,7%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954780"/>
            <a:ext cx="56692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685800" y="40005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103120" y="40005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0,010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520440" y="40005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244,32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937760" y="40005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49,5%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4261104"/>
            <a:ext cx="5669280" cy="283464"/>
          </a:xfrm>
          <a:prstGeom prst="rect">
            <a:avLst/>
          </a:prstGeom>
          <a:solidFill>
            <a:srgbClr val="FFF3DE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 txBox="1"/>
          <p:nvPr/>
        </p:nvSpPr>
        <p:spPr>
          <a:xfrm>
            <a:off x="685800" y="43068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103120" y="43068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43068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250,03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937760" y="43068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567428"/>
            <a:ext cx="56692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 txBox="1"/>
          <p:nvPr/>
        </p:nvSpPr>
        <p:spPr>
          <a:xfrm>
            <a:off x="685800" y="46131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103120" y="46131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0,010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520440" y="46131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255,18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937760" y="46131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48,8%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" y="4873752"/>
            <a:ext cx="5669280" cy="283464"/>
          </a:xfrm>
          <a:prstGeom prst="rect">
            <a:avLst/>
          </a:prstGeom>
          <a:solidFill>
            <a:srgbClr val="F4F6F8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 txBox="1"/>
          <p:nvPr/>
        </p:nvSpPr>
        <p:spPr>
          <a:xfrm>
            <a:off x="685800" y="4919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2103120" y="4919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0,005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3520440" y="4919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256,82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937760" y="4919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48,4%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40080" y="5180076"/>
            <a:ext cx="566928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 txBox="1"/>
          <p:nvPr/>
        </p:nvSpPr>
        <p:spPr>
          <a:xfrm>
            <a:off x="685800" y="52257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2103120" y="52257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0,005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3520440" y="52257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354,64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937760" y="52257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" y="5486400"/>
            <a:ext cx="5669280" cy="283464"/>
          </a:xfrm>
          <a:prstGeom prst="rect">
            <a:avLst/>
          </a:prstGeom>
          <a:solidFill>
            <a:srgbClr val="F4F6F8"/>
          </a:solidFill>
          <a:ln w="5080">
            <a:solidFill>
              <a:srgbClr val="ED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 txBox="1"/>
          <p:nvPr/>
        </p:nvSpPr>
        <p:spPr>
          <a:xfrm>
            <a:off x="685800" y="5532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2103120" y="5532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0,005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3520440" y="5532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459,34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4937760" y="55321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1050" dirty="0"/>
          </a:p>
        </p:txBody>
      </p:sp>
      <p:graphicFrame>
        <p:nvGraphicFramePr>
          <p:cNvPr id="66" name="Chart 0"/>
          <p:cNvGraphicFramePr/>
          <p:nvPr/>
        </p:nvGraphicFramePr>
        <p:xfrm>
          <a:off x="6583680" y="2514600"/>
          <a:ext cx="4983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Text 64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Destacada, a configuração adotada. A taxa de aprendizado domina: com lr = 0,05 as três larguras ficam a R$ 1,55 de distância — o número de neurônios é irrelevante. E a curva ainda descia na época 300: o limite foi o treino, não o modelo.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 e evidências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6492240" cy="3063240"/>
          </a:xfrm>
          <a:prstGeom prst="roundRect">
            <a:avLst>
              <a:gd name="adj" fmla="val 1791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536192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TestPadronizar(unittest.TestCase):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test_estatisticas_vem_do_treino(self):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"""O teste não pode influenciar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média e desvio (evita vazamento)."""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treino = np.array([[1.0], [2.0], [3.0]])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teste = np.array([[1000.0]])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_, _, media, _ = features.padronizar(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treino, teste)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self.assertEqual(media[0], 2.0)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test_coluna_constante_nao_divide_por_zero(self):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"""Corner case: desvio zero."""</a:t>
            </a:r>
            <a:endParaRPr lang="en-US" sz="950" dirty="0"/>
          </a:p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4590288"/>
            <a:ext cx="6492240" cy="1481328"/>
          </a:xfrm>
          <a:prstGeom prst="roundRect">
            <a:avLst>
              <a:gd name="adj" fmla="val 3704"/>
            </a:avLst>
          </a:prstGeom>
          <a:solidFill>
            <a:srgbClr val="0E2233"/>
          </a:solidFill>
          <a:ln w="6350">
            <a:solidFill>
              <a:srgbClr val="E1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68680" y="47548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 52 tests in 0.096s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1371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testes, nenhum ignorado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6276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Cobrem limpeza, features, métricas, baselines, índice sazonal, arquitetura da rede e persistência.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578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sozinhos a cada push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executa a suíte em Linux com PyTorch instalado. O resultado é público, com data e log.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teste rastreia um requisito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404164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docstrings aparecem no log: "Evidência do RNF03", "Corner case". A rastreabilidade é executável.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992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defeito real foi encontrado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24865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 pegou que o modelo salvo não recarregava com outra largura de camada — falha que só apareceria ao comparar configurações. Corrigido, com teste de regressão.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57607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Conclusão, limitações e próximos passos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325880"/>
          <a:ext cx="55778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840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resolveu o problema?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3308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com </a:t>
            </a:r>
            <a:r>
              <a:rPr lang="en-US" sz="1150" dirty="0" err="1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ressalvas</a:t>
            </a: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Supera a melhor regra sem ML em R$ 16,39 e atende o RNF01. Mas 48,7% de acerto dentro de ±25% ficou abaixo da meta de 60% do RNF02 — e nenhuma das 9 configurações passou de 49,7%.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1663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do ganho veio da regra simples (R$ 37,79), não do modelo (R$ 16,39). Sem medir os baselines, teríamos comemorado um resultado pior que uma planilha.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371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limitações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69164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12 atributos capturam só o tamanho do imóvel. Vista, andar e conservação não estão na base — é aí que está o limite do RNF02.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são uma fotografia de junho, baixa temporada. O preço-base reflete o piso do mercado.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sazonal só vê o que os anfitriões já configuraram: não antecipa eventos ainda não anunciados.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452628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Enriquecer atributos: extrair sinais de amenities e derivar distância da praia por latitude e longitude.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até convergir, com parada antecipada — a curva ainda descia na época 300.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calendário diário como base de treino para prever preço por data, não só pressão.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2690</Words>
  <Application>Microsoft Office PowerPoint</Application>
  <PresentationFormat>Widescreen</PresentationFormat>
  <Paragraphs>378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Precificacao Assistida em Copacabana</dc:title>
  <dc:subject>PptxGenJS Presentation</dc:subject>
  <dc:creator>Joao Pedro Fao</dc:creator>
  <cp:lastModifiedBy>Joao</cp:lastModifiedBy>
  <cp:revision>2</cp:revision>
  <dcterms:created xsi:type="dcterms:W3CDTF">2026-09-12T02:01:18Z</dcterms:created>
  <dcterms:modified xsi:type="dcterms:W3CDTF">2026-09-12T02:06:08Z</dcterms:modified>
</cp:coreProperties>
</file>